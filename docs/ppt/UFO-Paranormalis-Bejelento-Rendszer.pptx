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4630400" cy="8229600"/>
  <p:notesSz cx="8229600" cy="146304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Epilogue" panose="020B0604020202020204" charset="-18"/>
      <p:regular r:id="rId30"/>
    </p:embeddedFont>
    <p:embeddedFont>
      <p:font typeface="Fraunces Medium" panose="020B0604020202020204" charset="-18"/>
      <p:regular r:id="rId31"/>
    </p:embeddedFont>
  </p:embeddedFontLst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3129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609D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609D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4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10" Type="http://schemas.openxmlformats.org/officeDocument/2006/relationships/hyperlink" Target="http://localhost:8000/api" TargetMode="External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3408878"/>
            <a:ext cx="107680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UFO / Paranormális Bejelentő Rendszer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4578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Vizsgaremek — 2026 | Backend: Péntek Patrik Sándor | Frontend: Seletye Odett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6475"/>
            <a:ext cx="68125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Miről szól az alkalmazás?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88883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48888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7461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Közösségi platform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236595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UFO- és paranormális jelenségek bejelentésére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488883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248888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2746177"/>
            <a:ext cx="30220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Bejelentések feltöltése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3236595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Felhasználók bejelentést tölthetnek fel: helyszín, leírás, kategória, képek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2488883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248888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27461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Szavazás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3236595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Mások szavazhatnak a bejelentések hitelességére (upvote / downvote)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809411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310" y="480941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17" name="Text 15"/>
          <p:cNvSpPr/>
          <p:nvPr/>
        </p:nvSpPr>
        <p:spPr>
          <a:xfrm>
            <a:off x="1142524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Admin moderáció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2524" y="555712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Adminok moderálják a tartalmat: jóváhagyás, elutasítás, tiltás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216962" y="4809411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6482" y="480941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21" name="Text 19"/>
          <p:cNvSpPr/>
          <p:nvPr/>
        </p:nvSpPr>
        <p:spPr>
          <a:xfrm>
            <a:off x="5565696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Cél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65696" y="5557123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Transzparens, közösség által ellenőrzött adatbázis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18" y="620792"/>
            <a:ext cx="9919454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Tervezés — Adatbázis és architektúra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27698" y="1663422"/>
            <a:ext cx="6574631" cy="5947053"/>
          </a:xfrm>
          <a:prstGeom prst="roundRect">
            <a:avLst>
              <a:gd name="adj" fmla="val 2734"/>
            </a:avLst>
          </a:prstGeom>
          <a:solidFill>
            <a:srgbClr val="041938"/>
          </a:solidFill>
          <a:ln/>
        </p:spPr>
      </p:sp>
      <p:sp>
        <p:nvSpPr>
          <p:cNvPr id="4" name="Text 2"/>
          <p:cNvSpPr/>
          <p:nvPr/>
        </p:nvSpPr>
        <p:spPr>
          <a:xfrm>
            <a:off x="853440" y="1888093"/>
            <a:ext cx="2952512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ER-diagram entitások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3440" y="2465427"/>
            <a:ext cx="6123146" cy="2115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users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categories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reports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report_images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votes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53440" y="4805839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Főbb kapcsolatok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3440" y="5383173"/>
            <a:ext cx="6123146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user → reports → images / votes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8212" y="1888093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Státuszgép</a:t>
            </a:r>
            <a:endParaRPr lang="en-US" sz="2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212" y="2493526"/>
            <a:ext cx="6249591" cy="2562106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4125" y="2904891"/>
            <a:ext cx="211771" cy="2117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309390" y="2830233"/>
            <a:ext cx="1489013" cy="186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Elutasítva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0309390" y="3069303"/>
            <a:ext cx="3011117" cy="14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Visszautasított állapot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309390" y="3571431"/>
            <a:ext cx="1489013" cy="186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Jóváhagyva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0309390" y="3810501"/>
            <a:ext cx="3011117" cy="14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Publikálás engedélyezett</a:t>
            </a:r>
            <a:endParaRPr lang="en-US" sz="9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64125" y="3520350"/>
            <a:ext cx="211771" cy="21177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309390" y="4319247"/>
            <a:ext cx="1489013" cy="186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Függőben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0309390" y="4558317"/>
            <a:ext cx="3011117" cy="14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Vár jóváhagyásra</a:t>
            </a:r>
            <a:endParaRPr lang="en-US" sz="9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64125" y="4301255"/>
            <a:ext cx="211771" cy="21177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598212" y="5308402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Szerepkörök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7598212" y="5885736"/>
            <a:ext cx="6249591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609D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user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</a:t>
            </a:r>
            <a:r>
              <a:rPr lang="en-US" sz="1750" b="1" dirty="0">
                <a:solidFill>
                  <a:srgbClr val="609D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admin</a:t>
            </a:r>
            <a:endParaRPr lang="en-US" sz="1750" dirty="0"/>
          </a:p>
        </p:txBody>
      </p:sp>
      <p:sp>
        <p:nvSpPr>
          <p:cNvPr id="21" name="Text 15"/>
          <p:cNvSpPr/>
          <p:nvPr/>
        </p:nvSpPr>
        <p:spPr>
          <a:xfrm>
            <a:off x="7598212" y="6470690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Wireframe oldalak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598212" y="7048024"/>
            <a:ext cx="6249591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Lista oldal, részlet oldal, admin panel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813" y="630317"/>
            <a:ext cx="8039814" cy="701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Backend — Technológiai stack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85813" y="1776413"/>
            <a:ext cx="4204811" cy="2201347"/>
          </a:xfrm>
          <a:prstGeom prst="roundRect">
            <a:avLst>
              <a:gd name="adj" fmla="val 4284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7865" y="2008465"/>
            <a:ext cx="673537" cy="673537"/>
          </a:xfrm>
          <a:prstGeom prst="roundRect">
            <a:avLst>
              <a:gd name="adj" fmla="val 13574734"/>
            </a:avLst>
          </a:prstGeom>
          <a:solidFill>
            <a:srgbClr val="8C98C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3127" y="2193608"/>
            <a:ext cx="303014" cy="3030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7865" y="2904173"/>
            <a:ext cx="2806660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Laravel 12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17865" y="3388281"/>
            <a:ext cx="3740706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PHP 8.2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2794" y="1776413"/>
            <a:ext cx="4204811" cy="2201347"/>
          </a:xfrm>
          <a:prstGeom prst="roundRect">
            <a:avLst>
              <a:gd name="adj" fmla="val 4284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44847" y="2008465"/>
            <a:ext cx="673537" cy="673537"/>
          </a:xfrm>
          <a:prstGeom prst="roundRect">
            <a:avLst>
              <a:gd name="adj" fmla="val 13574734"/>
            </a:avLst>
          </a:prstGeom>
          <a:solidFill>
            <a:srgbClr val="8C98C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0108" y="2193608"/>
            <a:ext cx="303014" cy="3030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4847" y="2904173"/>
            <a:ext cx="2806660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REST API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4847" y="3388281"/>
            <a:ext cx="3740706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Erőforrás-alapú végpontok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39776" y="1776413"/>
            <a:ext cx="4204811" cy="2201347"/>
          </a:xfrm>
          <a:prstGeom prst="roundRect">
            <a:avLst>
              <a:gd name="adj" fmla="val 4284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1829" y="2008465"/>
            <a:ext cx="673537" cy="673537"/>
          </a:xfrm>
          <a:prstGeom prst="roundRect">
            <a:avLst>
              <a:gd name="adj" fmla="val 13574734"/>
            </a:avLst>
          </a:prstGeom>
          <a:solidFill>
            <a:srgbClr val="8C98C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7090" y="2193608"/>
            <a:ext cx="303014" cy="30301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1829" y="2904173"/>
            <a:ext cx="2806660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MySQL adatbázis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1829" y="3388281"/>
            <a:ext cx="3740706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ufo_reporting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85813" y="4199930"/>
            <a:ext cx="6418302" cy="2201347"/>
          </a:xfrm>
          <a:prstGeom prst="roundRect">
            <a:avLst>
              <a:gd name="adj" fmla="val 4284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17865" y="4431983"/>
            <a:ext cx="673537" cy="673537"/>
          </a:xfrm>
          <a:prstGeom prst="roundRect">
            <a:avLst>
              <a:gd name="adj" fmla="val 13574734"/>
            </a:avLst>
          </a:prstGeom>
          <a:solidFill>
            <a:srgbClr val="8C98C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3127" y="4617125"/>
            <a:ext cx="303014" cy="30301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17865" y="5327690"/>
            <a:ext cx="2806660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Laravel Sanctum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17865" y="5811798"/>
            <a:ext cx="5954197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Bearer token autentikáció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6285" y="4199930"/>
            <a:ext cx="6418302" cy="2201347"/>
          </a:xfrm>
          <a:prstGeom prst="roundRect">
            <a:avLst>
              <a:gd name="adj" fmla="val 4284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58338" y="4431983"/>
            <a:ext cx="673537" cy="673537"/>
          </a:xfrm>
          <a:prstGeom prst="roundRect">
            <a:avLst>
              <a:gd name="adj" fmla="val 13574734"/>
            </a:avLst>
          </a:prstGeom>
          <a:solidFill>
            <a:srgbClr val="8C98CA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3599" y="4617125"/>
            <a:ext cx="303014" cy="30301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58338" y="5327690"/>
            <a:ext cx="2806660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Eloquent ORM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58338" y="5811798"/>
            <a:ext cx="5954197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Resource Controller-ek</a:t>
            </a:r>
            <a:endParaRPr lang="en-US" sz="1750" dirty="0"/>
          </a:p>
        </p:txBody>
      </p:sp>
      <p:sp>
        <p:nvSpPr>
          <p:cNvPr id="28" name="Shape 21"/>
          <p:cNvSpPr/>
          <p:nvPr/>
        </p:nvSpPr>
        <p:spPr>
          <a:xfrm>
            <a:off x="785813" y="6651307"/>
            <a:ext cx="13058775" cy="947857"/>
          </a:xfrm>
          <a:prstGeom prst="roundRect">
            <a:avLst>
              <a:gd name="adj" fmla="val 9950"/>
            </a:avLst>
          </a:prstGeom>
          <a:solidFill>
            <a:srgbClr val="CBD0E7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0245" y="6971586"/>
            <a:ext cx="280630" cy="22443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515308" y="6929557"/>
            <a:ext cx="12104846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Alap URL: </a:t>
            </a:r>
            <a:r>
              <a:rPr lang="en-US" sz="1750" u="sng" dirty="0">
                <a:solidFill>
                  <a:srgbClr val="181E34"/>
                </a:solidFill>
                <a:latin typeface="Epilogue" pitchFamily="34" charset="0"/>
                <a:ea typeface="Epilogue" pitchFamily="34" charset="-122"/>
                <a:cs typeface="Epilogue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http://localhost:8000/api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0638"/>
            <a:ext cx="93234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Adatbázis — Táblák és kapcsolatok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53045"/>
            <a:ext cx="13042821" cy="3266837"/>
          </a:xfrm>
          <a:prstGeom prst="roundRect">
            <a:avLst>
              <a:gd name="adj" fmla="val 291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46066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2604373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users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3637598" y="2604373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name, email, role (user/admin), is_banned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01410" y="311098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8343" y="3254693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categories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3637598" y="3254693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name, description — 9 előre definiált kategória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376130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343" y="3905012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reports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3637598" y="3905012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title, description, latitude, longitude, date, witnesses, status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41162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8343" y="4555331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report_images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637598" y="4555331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report_id, image_path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06194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5205651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votes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3637598" y="5205651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report_id, user_id, vote_type (up/down)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93790" y="5975033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181E34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303883"/>
            <a:ext cx="283488" cy="22681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30906" y="6258520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Soft delete</a:t>
            </a:r>
            <a:r>
              <a:rPr lang="en-US" sz="17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alkalmazva: </a:t>
            </a:r>
            <a:r>
              <a:rPr lang="en-US" sz="1750" dirty="0">
                <a:solidFill>
                  <a:srgbClr val="609D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users, categories, reports, report_images, votes</a:t>
            </a:r>
            <a:r>
              <a:rPr lang="en-US" sz="17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táblákon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329" y="697944"/>
            <a:ext cx="8667155" cy="65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REST API — Végpontok áttekintése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30329" y="1733788"/>
            <a:ext cx="6488906" cy="2996803"/>
          </a:xfrm>
          <a:prstGeom prst="roundRect">
            <a:avLst>
              <a:gd name="adj" fmla="val 2924"/>
            </a:avLst>
          </a:prstGeom>
          <a:solidFill>
            <a:srgbClr val="609DFF"/>
          </a:solidFill>
          <a:ln w="22860">
            <a:solidFill>
              <a:srgbClr val="414A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3189" y="1756648"/>
            <a:ext cx="6443186" cy="625912"/>
          </a:xfrm>
          <a:prstGeom prst="roundRect">
            <a:avLst>
              <a:gd name="adj" fmla="val 9619"/>
            </a:avLst>
          </a:prstGeom>
          <a:solidFill>
            <a:srgbClr val="283157"/>
          </a:solidFill>
          <a:ln/>
        </p:spPr>
      </p:sp>
      <p:sp>
        <p:nvSpPr>
          <p:cNvPr id="5" name="Text 3"/>
          <p:cNvSpPr/>
          <p:nvPr/>
        </p:nvSpPr>
        <p:spPr>
          <a:xfrm>
            <a:off x="961787" y="2574488"/>
            <a:ext cx="2608302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Publikus végpontok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961787" y="3015615"/>
            <a:ext cx="6025991" cy="1483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GET /reports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GET /reports/{id}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GET /map/reports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GET /statistics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11164" y="1733788"/>
            <a:ext cx="6488906" cy="2996803"/>
          </a:xfrm>
          <a:prstGeom prst="roundRect">
            <a:avLst>
              <a:gd name="adj" fmla="val 2924"/>
            </a:avLst>
          </a:prstGeom>
          <a:solidFill>
            <a:srgbClr val="609DFF"/>
          </a:solidFill>
          <a:ln w="22860">
            <a:solidFill>
              <a:srgbClr val="414A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34024" y="1756648"/>
            <a:ext cx="6443186" cy="625912"/>
          </a:xfrm>
          <a:prstGeom prst="roundRect">
            <a:avLst>
              <a:gd name="adj" fmla="val 9619"/>
            </a:avLst>
          </a:prstGeom>
          <a:solidFill>
            <a:srgbClr val="283157"/>
          </a:solidFill>
          <a:ln/>
        </p:spPr>
      </p:sp>
      <p:sp>
        <p:nvSpPr>
          <p:cNvPr id="9" name="Text 7"/>
          <p:cNvSpPr/>
          <p:nvPr/>
        </p:nvSpPr>
        <p:spPr>
          <a:xfrm>
            <a:off x="7642622" y="2574488"/>
            <a:ext cx="2608302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Autentikáció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7642622" y="3015615"/>
            <a:ext cx="6025991" cy="70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POST /register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POST /login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0329" y="4922520"/>
            <a:ext cx="6488906" cy="2609136"/>
          </a:xfrm>
          <a:prstGeom prst="roundRect">
            <a:avLst>
              <a:gd name="adj" fmla="val 3359"/>
            </a:avLst>
          </a:prstGeom>
          <a:solidFill>
            <a:srgbClr val="609DFF"/>
          </a:solidFill>
          <a:ln w="22860">
            <a:solidFill>
              <a:srgbClr val="414A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3189" y="4945380"/>
            <a:ext cx="6443186" cy="625912"/>
          </a:xfrm>
          <a:prstGeom prst="roundRect">
            <a:avLst>
              <a:gd name="adj" fmla="val 9619"/>
            </a:avLst>
          </a:prstGeom>
          <a:solidFill>
            <a:srgbClr val="283157"/>
          </a:solidFill>
          <a:ln/>
        </p:spPr>
      </p:sp>
      <p:sp>
        <p:nvSpPr>
          <p:cNvPr id="13" name="Text 11"/>
          <p:cNvSpPr/>
          <p:nvPr/>
        </p:nvSpPr>
        <p:spPr>
          <a:xfrm>
            <a:off x="961787" y="5763220"/>
            <a:ext cx="2654856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Védett (Bearer token)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961787" y="6204347"/>
            <a:ext cx="6025991" cy="70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POST/PUT/DELETE /reports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POST /reports/{id}/vote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11164" y="4922520"/>
            <a:ext cx="6488906" cy="2609136"/>
          </a:xfrm>
          <a:prstGeom prst="roundRect">
            <a:avLst>
              <a:gd name="adj" fmla="val 3359"/>
            </a:avLst>
          </a:prstGeom>
          <a:solidFill>
            <a:srgbClr val="609DFF"/>
          </a:solidFill>
          <a:ln w="22860">
            <a:solidFill>
              <a:srgbClr val="414A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34024" y="4945380"/>
            <a:ext cx="6443186" cy="625912"/>
          </a:xfrm>
          <a:prstGeom prst="roundRect">
            <a:avLst>
              <a:gd name="adj" fmla="val 9619"/>
            </a:avLst>
          </a:prstGeom>
          <a:solidFill>
            <a:srgbClr val="283157"/>
          </a:solidFill>
          <a:ln/>
        </p:spPr>
      </p:sp>
      <p:sp>
        <p:nvSpPr>
          <p:cNvPr id="17" name="Text 15"/>
          <p:cNvSpPr/>
          <p:nvPr/>
        </p:nvSpPr>
        <p:spPr>
          <a:xfrm>
            <a:off x="7642622" y="5763220"/>
            <a:ext cx="2608302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Admin végpontok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7642622" y="6204347"/>
            <a:ext cx="6025991" cy="1095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PUT /admin/reports/{id}/approve|reject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PUT /admin/users/{id}/ban|unban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CRUD /admin/categories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8409"/>
            <a:ext cx="110665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Biztonság — Sanctum, szerepkörök, tiltás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2081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75861"/>
            <a:ext cx="6407944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250168"/>
            <a:ext cx="37595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Regisztráció / bejelentkezés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740587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Bearer token visszaadása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72081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075861"/>
            <a:ext cx="6408063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250168"/>
            <a:ext cx="35319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auth:sanctum middleware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740587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Token érvényesség ellenőrzés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50032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855369"/>
            <a:ext cx="6407944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029676"/>
            <a:ext cx="35465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check.banned middleware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520095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Tiltott felhasználók blokkolása (403)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50032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855369"/>
            <a:ext cx="6408063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029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admin middleware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520095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Szerepkör ellenőrzés az admin végpontokon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630816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 szerepkör: </a:t>
            </a:r>
            <a:r>
              <a:rPr lang="en-US" sz="1750" b="1" dirty="0">
                <a:solidFill>
                  <a:srgbClr val="609D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user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</a:t>
            </a:r>
            <a:r>
              <a:rPr lang="en-US" sz="1750" b="1" dirty="0">
                <a:solidFill>
                  <a:srgbClr val="609D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admin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5092"/>
            <a:ext cx="104707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Képfeltöltés — Fájlkezelés a backenden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734032"/>
            <a:ext cx="6571417" cy="3810476"/>
          </a:xfrm>
          <a:prstGeom prst="roundRect">
            <a:avLst>
              <a:gd name="adj" fmla="val 4286"/>
            </a:avLst>
          </a:prstGeom>
          <a:solidFill>
            <a:srgbClr val="041938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29608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Végpont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541990"/>
            <a:ext cx="611778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/reports/{id}/images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57250" y="41545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Fájlok fogadása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7250" y="4735711"/>
            <a:ext cx="611778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multipart/form-data, </a:t>
            </a:r>
            <a:r>
              <a:rPr lang="en-US" sz="1750" dirty="0">
                <a:solidFill>
                  <a:srgbClr val="EBECEF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images[]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tömb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57250" y="53482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Törlés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57250" y="5929432"/>
            <a:ext cx="611778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/images/{id}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fájl és DB rekord egyidejűleg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2960846"/>
            <a:ext cx="33361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Korlátok és formátumok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599521" y="3570327"/>
            <a:ext cx="3008948" cy="1412915"/>
          </a:xfrm>
          <a:prstGeom prst="roundRect">
            <a:avLst>
              <a:gd name="adj" fmla="val 6743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33955" y="3804761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Max. 10 kép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833955" y="4385905"/>
            <a:ext cx="25400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egyszerre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10835283" y="3570327"/>
            <a:ext cx="3008948" cy="1412915"/>
          </a:xfrm>
          <a:prstGeom prst="roundRect">
            <a:avLst>
              <a:gd name="adj" fmla="val 6743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69717" y="3804761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Max. 5 MB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069717" y="4385905"/>
            <a:ext cx="25400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egyenként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99521" y="5238393"/>
            <a:ext cx="33583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Támogatott formátumok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599521" y="5847874"/>
            <a:ext cx="70449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8C9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43230" y="5923478"/>
            <a:ext cx="41707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JPEG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17362" y="5847874"/>
            <a:ext cx="63722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8C98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61070" y="5923478"/>
            <a:ext cx="34980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67932" y="5847874"/>
            <a:ext cx="547568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8C98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11640" y="5923478"/>
            <a:ext cx="26015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GIF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828848" y="5847874"/>
            <a:ext cx="755094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8C98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72556" y="5923478"/>
            <a:ext cx="4676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WEBP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0334" y="640437"/>
            <a:ext cx="7479863" cy="68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Hitelesség — Szavazás logika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770334" y="1755338"/>
            <a:ext cx="13089731" cy="948095"/>
          </a:xfrm>
          <a:prstGeom prst="roundRect">
            <a:avLst>
              <a:gd name="adj" fmla="val 9750"/>
            </a:avLst>
          </a:prstGeom>
          <a:solidFill>
            <a:srgbClr val="181E34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362" y="2066449"/>
            <a:ext cx="275034" cy="2200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5424" y="2023824"/>
            <a:ext cx="12154614" cy="377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Végpont: </a:t>
            </a:r>
            <a:r>
              <a:rPr lang="en-US" sz="1700" dirty="0">
                <a:solidFill>
                  <a:srgbClr val="FFFFF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/reports/{id}/vote</a:t>
            </a:r>
            <a:r>
              <a:rPr lang="en-US" sz="17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body: </a:t>
            </a:r>
            <a:r>
              <a:rPr lang="en-US" sz="1700" dirty="0">
                <a:solidFill>
                  <a:srgbClr val="FFFFF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 vote_type: "up" / "down" }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34" y="2943701"/>
            <a:ext cx="4363164" cy="8803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0362" y="4037528"/>
            <a:ext cx="275117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Visszavonás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990362" y="4509492"/>
            <a:ext cx="3923109" cy="69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Ugyanolyan szavazat leadva újra → visszavonás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3499" y="2943701"/>
            <a:ext cx="4363283" cy="8803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53526" y="4037528"/>
            <a:ext cx="275117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Felülírás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5353526" y="4509492"/>
            <a:ext cx="3923228" cy="346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Ellentétes szavazat → felülírás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6782" y="2943701"/>
            <a:ext cx="4363283" cy="8803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16810" y="4037528"/>
            <a:ext cx="275117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Létrehozás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9716810" y="4509492"/>
            <a:ext cx="3923228" cy="346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Új szavazat → létrehozás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770334" y="5773698"/>
            <a:ext cx="13089731" cy="7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00"/>
              </a:lnSpc>
              <a:buNone/>
            </a:pPr>
            <a:r>
              <a:rPr lang="en-US" sz="57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↑−↓</a:t>
            </a:r>
            <a:endParaRPr lang="en-US" sz="5700" dirty="0"/>
          </a:p>
        </p:txBody>
      </p:sp>
      <p:sp>
        <p:nvSpPr>
          <p:cNvPr id="16" name="Text 10"/>
          <p:cNvSpPr/>
          <p:nvPr/>
        </p:nvSpPr>
        <p:spPr>
          <a:xfrm>
            <a:off x="5936218" y="6770132"/>
            <a:ext cx="2757964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Hitelesség-pontszám</a:t>
            </a:r>
            <a:endParaRPr lang="en-US" sz="2150" dirty="0"/>
          </a:p>
        </p:txBody>
      </p:sp>
      <p:sp>
        <p:nvSpPr>
          <p:cNvPr id="17" name="Text 11"/>
          <p:cNvSpPr/>
          <p:nvPr/>
        </p:nvSpPr>
        <p:spPr>
          <a:xfrm>
            <a:off x="770334" y="7242096"/>
            <a:ext cx="13089731" cy="346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upvotes − downvotes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8896"/>
            <a:ext cx="60119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Moderáció és tesztelés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64650"/>
            <a:ext cx="29035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Bejelentések kezelése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545794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Jóváhagyás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Elutasítás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Törlés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019907"/>
            <a:ext cx="29663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Felhasználók kezelése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601051"/>
            <a:ext cx="624470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Tiltás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Tiltás feloldása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6329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Kategóriák kezelése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6214110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Létrehozás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Szerkesztés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Törlés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36168" y="1737836"/>
            <a:ext cx="6571417" cy="5802868"/>
          </a:xfrm>
          <a:prstGeom prst="roundRect">
            <a:avLst>
              <a:gd name="adj" fmla="val 2814"/>
            </a:avLst>
          </a:prstGeom>
          <a:solidFill>
            <a:srgbClr val="041938"/>
          </a:solidFill>
          <a:ln/>
        </p:spPr>
      </p:sp>
      <p:sp>
        <p:nvSpPr>
          <p:cNvPr id="10" name="Text 8"/>
          <p:cNvSpPr/>
          <p:nvPr/>
        </p:nvSpPr>
        <p:spPr>
          <a:xfrm>
            <a:off x="7662982" y="19646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Tesztelési eszközök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62982" y="2545794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Postman collection: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662982" y="3112770"/>
            <a:ext cx="611778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ufo-api.postman_collection.json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62982" y="3702606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Automatizált tesztek: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662982" y="4269581"/>
            <a:ext cx="611778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test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662982" y="48821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Feature tesztek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62982" y="5491639"/>
            <a:ext cx="713303" cy="426244"/>
          </a:xfrm>
          <a:prstGeom prst="roundRect">
            <a:avLst>
              <a:gd name="adj" fmla="val 17880"/>
            </a:avLst>
          </a:prstGeom>
          <a:solidFill>
            <a:srgbClr val="181E34"/>
          </a:solidFill>
          <a:ln/>
        </p:spPr>
      </p:sp>
      <p:sp>
        <p:nvSpPr>
          <p:cNvPr id="17" name="Text 15"/>
          <p:cNvSpPr/>
          <p:nvPr/>
        </p:nvSpPr>
        <p:spPr>
          <a:xfrm>
            <a:off x="7799070" y="5559623"/>
            <a:ext cx="44112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AUTH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489633" y="5491639"/>
            <a:ext cx="909280" cy="426244"/>
          </a:xfrm>
          <a:prstGeom prst="roundRect">
            <a:avLst>
              <a:gd name="adj" fmla="val 17880"/>
            </a:avLst>
          </a:prstGeom>
          <a:solidFill>
            <a:srgbClr val="181E34"/>
          </a:solidFill>
          <a:ln/>
        </p:spPr>
      </p:sp>
      <p:sp>
        <p:nvSpPr>
          <p:cNvPr id="19" name="Text 17"/>
          <p:cNvSpPr/>
          <p:nvPr/>
        </p:nvSpPr>
        <p:spPr>
          <a:xfrm>
            <a:off x="8625721" y="5559623"/>
            <a:ext cx="63710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REPORT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512260" y="5491639"/>
            <a:ext cx="687348" cy="426244"/>
          </a:xfrm>
          <a:prstGeom prst="roundRect">
            <a:avLst>
              <a:gd name="adj" fmla="val 17880"/>
            </a:avLst>
          </a:prstGeom>
          <a:solidFill>
            <a:srgbClr val="181E34"/>
          </a:solidFill>
          <a:ln/>
        </p:spPr>
      </p:sp>
      <p:sp>
        <p:nvSpPr>
          <p:cNvPr id="21" name="Text 19"/>
          <p:cNvSpPr/>
          <p:nvPr/>
        </p:nvSpPr>
        <p:spPr>
          <a:xfrm>
            <a:off x="9648349" y="5559623"/>
            <a:ext cx="41517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VOTE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312956" y="5491639"/>
            <a:ext cx="806887" cy="426244"/>
          </a:xfrm>
          <a:prstGeom prst="roundRect">
            <a:avLst>
              <a:gd name="adj" fmla="val 17880"/>
            </a:avLst>
          </a:prstGeom>
          <a:solidFill>
            <a:srgbClr val="181E34"/>
          </a:solidFill>
          <a:ln/>
        </p:spPr>
      </p:sp>
      <p:sp>
        <p:nvSpPr>
          <p:cNvPr id="23" name="Text 21"/>
          <p:cNvSpPr/>
          <p:nvPr/>
        </p:nvSpPr>
        <p:spPr>
          <a:xfrm>
            <a:off x="10449044" y="5559623"/>
            <a:ext cx="53471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ADMIN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2862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Frontend — Technológiai stack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86344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Angular 19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standalone component architektúra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Bootstrap 5.3.3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sci-fi sötét téma, CSS változók felülírással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Leaflet.js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interaktív térkép (OpenStreetMap)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Angular Signals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reaktív állapotkezelés (AuthService.currentUser)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SessionStorage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token és felhasználói adatok tárolása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6303"/>
            <a:ext cx="74997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Oldalszerkezet — Útvonalak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58710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058710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316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C98CA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/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2806422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Bejelentések listája: slider, szűrés, rendezés, lapozás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058710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058710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316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C98CA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/reports/:id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2806422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Bejelentés részlete: térkép, szavazás, képgaléria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016335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016335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4273629"/>
            <a:ext cx="47947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C98CA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/reports/create és /reports/:id/edit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4764048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Létrehozás és szerkesztés (auth)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016335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016335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42736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C98CA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/statistics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4764048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Statisztikák (nyilvános)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93790" y="5611058"/>
            <a:ext cx="6407944" cy="1722239"/>
          </a:xfrm>
          <a:prstGeom prst="roundRect">
            <a:avLst>
              <a:gd name="adj" fmla="val 8495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310" y="5611058"/>
            <a:ext cx="121920" cy="1722239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21" name="Text 19"/>
          <p:cNvSpPr/>
          <p:nvPr/>
        </p:nvSpPr>
        <p:spPr>
          <a:xfrm>
            <a:off x="1142524" y="5868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C98CA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/profile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2524" y="6358771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Saját profil és bejelentések (auth)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428548" y="5611058"/>
            <a:ext cx="6408063" cy="1722239"/>
          </a:xfrm>
          <a:prstGeom prst="roundRect">
            <a:avLst>
              <a:gd name="adj" fmla="val 8495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98067" y="5611058"/>
            <a:ext cx="121920" cy="1722239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7282" y="5868352"/>
            <a:ext cx="58020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C98CA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/admin/reports,  /admin/users, /admin/categories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777282" y="6713101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Admin panel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5098"/>
            <a:ext cx="75757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Guards, Interceptor, Signals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97505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AuthService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62235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Angular Signal (currentUser) — azonnal reagál a változásra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897505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authGuard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62235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bejelentkezés nélkül /login-ra irányít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897505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adminGuard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62235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nem admin felhasználót a főoldalra irányít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809411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224" y="50438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AuthInterceptor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8224" y="5534263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minden HTTP kéréshez automatikusan csatolja a Bearer tokent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2982" y="50438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SessionStorage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62982" y="5534263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böngészőtab zárásig megőrzi a munkamenetet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3543" y="788670"/>
            <a:ext cx="7696914" cy="1292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Interaktív térkép — Leaflet.js integráció</a:t>
            </a:r>
            <a:endParaRPr lang="en-US" sz="4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543" y="2363272"/>
            <a:ext cx="1033582" cy="124027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45481" y="2569964"/>
            <a:ext cx="5030986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Újrafelhasználható app-map komponens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945481" y="3005852"/>
            <a:ext cx="6474976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 módban működik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543" y="3603546"/>
            <a:ext cx="1033582" cy="124027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45481" y="3810238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Megjelenítő mód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1945481" y="4246126"/>
            <a:ext cx="6474976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GPS koordináta → marker a térképen (readonly)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543" y="4843820"/>
            <a:ext cx="1033582" cy="124027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45481" y="5050512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Interaktív mód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1945481" y="5486400"/>
            <a:ext cx="6474976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kattintásra visszaadja a kiválasztott koordinátákat</a:t>
            </a: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723543" y="6296025"/>
            <a:ext cx="7696914" cy="1144905"/>
          </a:xfrm>
          <a:prstGeom prst="roundRect">
            <a:avLst>
              <a:gd name="adj" fmla="val 7584"/>
            </a:avLst>
          </a:prstGeom>
          <a:solidFill>
            <a:srgbClr val="181E34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235" y="6586895"/>
            <a:ext cx="258366" cy="20669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95293" y="6536055"/>
            <a:ext cx="6818471" cy="631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OnPush change detection + NgZone</a:t>
            </a:r>
            <a:r>
              <a:rPr lang="en-US" sz="16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teljesítmény optimalizálás</a:t>
            </a:r>
            <a:endParaRPr lang="en-US" sz="1600" dirty="0"/>
          </a:p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invalidateSize()</a:t>
            </a:r>
            <a:r>
              <a:rPr lang="en-US" sz="16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konténerméret korrekció lazy load után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5073"/>
            <a:ext cx="109324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ReportForm — Létrehozás és szerkesztés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584013"/>
            <a:ext cx="6571417" cy="4110514"/>
          </a:xfrm>
          <a:prstGeom prst="roundRect">
            <a:avLst>
              <a:gd name="adj" fmla="val 3973"/>
            </a:avLst>
          </a:prstGeom>
          <a:solidFill>
            <a:srgbClr val="8C98CA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2810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Komponens logika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391972"/>
            <a:ext cx="6117788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Ugyanaz a komponens kezeli a létrehozást (</a:t>
            </a:r>
            <a:r>
              <a:rPr lang="en-US" sz="1750" dirty="0">
                <a:solidFill>
                  <a:srgbClr val="000000"/>
                </a:solidFill>
                <a:highlight>
                  <a:srgbClr val="7F8BB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/create</a:t>
            </a:r>
            <a:r>
              <a:rPr lang="en-US" sz="1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) és szerkesztést (</a:t>
            </a:r>
            <a:r>
              <a:rPr lang="en-US" sz="1750" dirty="0">
                <a:solidFill>
                  <a:srgbClr val="000000"/>
                </a:solidFill>
                <a:highlight>
                  <a:srgbClr val="7F8BB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/edit</a:t>
            </a:r>
            <a:r>
              <a:rPr lang="en-US" sz="1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57250" y="4367570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Template-driven Forms</a:t>
            </a:r>
            <a:r>
              <a:rPr lang="en-US" sz="1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(FormsModule, ngModel) — kötelező mezők, min. érték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810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Mezők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391972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cím, kategória, leírás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esemény dátuma, tanúk száma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helyszín, képek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Képfeltöltés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5447228"/>
            <a:ext cx="6244709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előnézet, max. 10 db, max. 5 MB/kép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Szerkesztésnél: meglévő képek listája, egyenként törölhetők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11110"/>
            <a:ext cx="74339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Statisztikák + Admin felület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373517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223980"/>
            <a:ext cx="31609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Statisztikák (nyilvános)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714399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bejelentések, felhasználók, szavazatok száma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213390"/>
            <a:ext cx="6379607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Kategória szerinti bontás, arányos progress bar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Top 5 leghitelesebb és legutóbbi 5 bejelentés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6884" y="3373517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884" y="42239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Admin panel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6884" y="4714399"/>
            <a:ext cx="6379726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bejelentések moderálása státusz szerint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felhasználók keresése, tiltás / tiltás feloldása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1514" y="1072396"/>
            <a:ext cx="11377374" cy="60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UFO / Paranormal Reporting System — Overview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81514" y="2015252"/>
            <a:ext cx="438031" cy="438031"/>
          </a:xfrm>
          <a:prstGeom prst="roundRect">
            <a:avLst>
              <a:gd name="adj" fmla="val 18672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6708" y="2082165"/>
            <a:ext cx="2467689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Community platform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286708" y="2486620"/>
            <a:ext cx="12662178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for reporting UFO and paranormal activities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1514" y="3110508"/>
            <a:ext cx="438031" cy="438031"/>
          </a:xfrm>
          <a:prstGeom prst="roundRect">
            <a:avLst>
              <a:gd name="adj" fmla="val 18672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6708" y="3177421"/>
            <a:ext cx="2895243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Users can submit reports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86708" y="3581876"/>
            <a:ext cx="12662178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location, description, category, photos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1514" y="4205764"/>
            <a:ext cx="438031" cy="438031"/>
          </a:xfrm>
          <a:prstGeom prst="roundRect">
            <a:avLst>
              <a:gd name="adj" fmla="val 18672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6708" y="4272677"/>
            <a:ext cx="2898338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Credibility voting system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86708" y="4677132"/>
            <a:ext cx="12662178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upvote / downvote per report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1514" y="5301020"/>
            <a:ext cx="438031" cy="438031"/>
          </a:xfrm>
          <a:prstGeom prst="roundRect">
            <a:avLst>
              <a:gd name="adj" fmla="val 18672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6708" y="5367933"/>
            <a:ext cx="2434114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Admin moderation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86708" y="5772388"/>
            <a:ext cx="12662178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approve, reject, ban users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1514" y="6396276"/>
            <a:ext cx="438031" cy="438031"/>
          </a:xfrm>
          <a:prstGeom prst="roundRect">
            <a:avLst>
              <a:gd name="adj" fmla="val 18672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6708" y="6463189"/>
            <a:ext cx="2434114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Tech stack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286708" y="6867644"/>
            <a:ext cx="12662178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Laravel 12</a:t>
            </a: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(backend) + </a:t>
            </a:r>
            <a:r>
              <a:rPr lang="en-US" sz="1500" b="1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Angular 19</a:t>
            </a: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(frontend)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27910"/>
            <a:ext cx="80060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Features &amp; Architecture 1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90317"/>
            <a:ext cx="4196358" cy="2411254"/>
          </a:xfrm>
          <a:prstGeom prst="roundRect">
            <a:avLst>
              <a:gd name="adj" fmla="val 3951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3520797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28315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1888" y="3687008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084" y="44280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Laravel 12 REST API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51084" y="4918472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with Sanctum Bearer token auth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490317"/>
            <a:ext cx="4196358" cy="2411254"/>
          </a:xfrm>
          <a:prstGeom prst="roundRect">
            <a:avLst>
              <a:gd name="adj" fmla="val 3951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47442" y="3520797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28315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5060" y="3687008"/>
            <a:ext cx="340162" cy="3401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74256" y="4428053"/>
            <a:ext cx="34930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Role-based access control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74256" y="4918472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user / admin roles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490317"/>
            <a:ext cx="4196358" cy="2411254"/>
          </a:xfrm>
          <a:prstGeom prst="roundRect">
            <a:avLst>
              <a:gd name="adj" fmla="val 3951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670613" y="3520797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28315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68232" y="3687008"/>
            <a:ext cx="340162" cy="3401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97427" y="44280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Image upload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97427" y="4918472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via multipart/form-data → public storage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80084"/>
            <a:ext cx="80897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Features &amp; Architecture 2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770828"/>
            <a:ext cx="226814" cy="2268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4097536"/>
            <a:ext cx="4196358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5" name="Text 2"/>
          <p:cNvSpPr/>
          <p:nvPr/>
        </p:nvSpPr>
        <p:spPr>
          <a:xfrm>
            <a:off x="793790" y="4271843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Standalone Angular 19 components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11659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with lazy loading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16962" y="3770828"/>
            <a:ext cx="226814" cy="22681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216962" y="4097536"/>
            <a:ext cx="4196358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9" name="Text 5"/>
          <p:cNvSpPr/>
          <p:nvPr/>
        </p:nvSpPr>
        <p:spPr>
          <a:xfrm>
            <a:off x="5216962" y="4271843"/>
            <a:ext cx="31362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Interactive Leaflet map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16962" y="476226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display and click-to-select location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40133" y="3770828"/>
            <a:ext cx="226814" cy="22681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640133" y="4097536"/>
            <a:ext cx="4196358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3" name="Text 8"/>
          <p:cNvSpPr/>
          <p:nvPr/>
        </p:nvSpPr>
        <p:spPr>
          <a:xfrm>
            <a:off x="9640133" y="4271843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Auth guards &amp; HTTP interceptor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40133" y="511659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for secure API calls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971</Words>
  <Application>Microsoft Office PowerPoint</Application>
  <PresentationFormat>Egyéni</PresentationFormat>
  <Paragraphs>239</Paragraphs>
  <Slides>19</Slides>
  <Notes>19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19</vt:i4>
      </vt:variant>
    </vt:vector>
  </HeadingPairs>
  <TitlesOfParts>
    <vt:vector size="26" baseType="lpstr">
      <vt:lpstr>Consolas</vt:lpstr>
      <vt:lpstr>Epilogue</vt:lpstr>
      <vt:lpstr>Fraunces Medium</vt:lpstr>
      <vt:lpstr>Calibri</vt:lpstr>
      <vt:lpstr>Arial</vt:lpstr>
      <vt:lpstr>Fraunces Light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Seletye Odett</dc:creator>
  <cp:lastModifiedBy>Seletye Odett</cp:lastModifiedBy>
  <cp:revision>3</cp:revision>
  <dcterms:created xsi:type="dcterms:W3CDTF">2026-04-01T05:52:20Z</dcterms:created>
  <dcterms:modified xsi:type="dcterms:W3CDTF">2026-04-01T06:44:48Z</dcterms:modified>
</cp:coreProperties>
</file>